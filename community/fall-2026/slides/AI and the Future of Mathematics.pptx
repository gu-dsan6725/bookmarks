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1" r:id="rId6"/>
    <p:sldId id="263" r:id="rId7"/>
    <p:sldId id="259" r:id="rId8"/>
    <p:sldId id="260" r:id="rId9"/>
    <p:sldId id="265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5"/>
        <p:guide pos="29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2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77000"/>
            <a:ext cx="1390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AI &amp; Mathematics Briefing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91850" y="6477000"/>
            <a:ext cx="628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5453" y="2620863"/>
            <a:ext cx="8741092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350" b="0" i="0" u="none">
                <a:solidFill>
                  <a:srgbClr val="0F172A"/>
                </a:solidFill>
                <a:latin typeface="Plus Jakarta Sans ExtraBold"/>
              </a:rPr>
              <a:t>AI &amp; The Future of Mathematics</a:t>
            </a:r>
            <a:endParaRPr sz="435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47875" y="3484661"/>
            <a:ext cx="8096250" cy="31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Reflections on OpenAI’s Navier-Stokes Announcement</a:t>
            </a:r>
            <a:endParaRPr sz="16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75025" y="3853180"/>
            <a:ext cx="5761355" cy="1677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400" b="0" i="0" u="none">
                <a:solidFill>
                  <a:srgbClr val="4F46E5"/>
                </a:solidFill>
                <a:latin typeface="Inter SemiBold"/>
              </a:rPr>
              <a:t>Mingyang Han</a:t>
            </a:r>
            <a:endParaRPr lang="en-US" sz="2400" b="0" i="0" u="none">
              <a:solidFill>
                <a:srgbClr val="4F46E5"/>
              </a:solidFill>
              <a:latin typeface="Inter SemiBold"/>
            </a:endParaRPr>
          </a:p>
          <a:p>
            <a:pPr algn="ctr"/>
            <a:endParaRPr lang="en-US" sz="2400" b="0" i="0" u="none">
              <a:solidFill>
                <a:srgbClr val="4F46E5"/>
              </a:solidFill>
              <a:latin typeface="Inter SemiBold"/>
            </a:endParaRPr>
          </a:p>
          <a:p>
            <a:pPr algn="ctr"/>
            <a:r>
              <a:rPr lang="en-US" sz="2400" b="0" i="0" u="none">
                <a:solidFill>
                  <a:srgbClr val="4F46E5"/>
                </a:solidFill>
                <a:latin typeface="Inter SemiBold"/>
              </a:rPr>
              <a:t>DSAN6725</a:t>
            </a:r>
            <a:endParaRPr lang="en-US" sz="2400" b="0" i="0" u="none">
              <a:solidFill>
                <a:srgbClr val="4F46E5"/>
              </a:solidFill>
              <a:latin typeface="Inter SemiBold"/>
            </a:endParaRPr>
          </a:p>
          <a:p>
            <a:pPr algn="ctr"/>
            <a:endParaRPr lang="en-US" sz="2400" b="0" i="0" u="none">
              <a:solidFill>
                <a:srgbClr val="4F46E5"/>
              </a:solidFill>
              <a:latin typeface="Inter SemiBold"/>
            </a:endParaRPr>
          </a:p>
          <a:p>
            <a:pPr algn="ctr"/>
            <a:r>
              <a:rPr lang="en-US" sz="2400" b="0" i="0" u="none">
                <a:solidFill>
                  <a:srgbClr val="4F46E5"/>
                </a:solidFill>
                <a:latin typeface="Inter SemiBold"/>
              </a:rPr>
              <a:t>2026.09.15</a:t>
            </a:r>
            <a:endParaRPr lang="en-US" sz="2400" b="0" i="0" u="none">
              <a:solidFill>
                <a:srgbClr val="4F46E5"/>
              </a:solidFill>
              <a:latin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4786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77000"/>
            <a:ext cx="1895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Navier-Stokes Millennium Problem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77000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1759446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E293B"/>
                </a:solidFill>
                <a:latin typeface="Inter SemiBold"/>
              </a:rPr>
              <a:t>In September 2026, OpenAI announced that an internal AI system derived a proof for the 90-year-old Navier-Stokes Millennium Problem.</a:t>
            </a:r>
            <a:endParaRPr sz="1350" b="0" i="0" u="none">
              <a:solidFill>
                <a:srgbClr val="1E293B"/>
              </a:solidFill>
              <a:latin typeface="Inter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772816"/>
            <a:ext cx="49911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The Core Problem: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Navier-Stokes equations describe fluid motion (water, air, blood flow). The question asks whether smooth solutions always remain smooth or form singularities (infinite velocity).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041427"/>
            <a:ext cx="4991100" cy="830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OpenAI's Finding: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AI produced a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counterexample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proof showing a spinning vortex can form a singularity in finite time with finite total energy.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035748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Lean Verification: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analytical proof was formalized and verified in 17 hours using the computer proof assistant Lean.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47862"/>
            <a:ext cx="5334000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06154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74765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OpenAI's Navier-Stokes Claim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图片 15" descr="截屏2026-09-12 22.40.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7720" y="294005"/>
            <a:ext cx="5774055" cy="1543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27152"/>
            <a:ext cx="11049000" cy="1504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4112"/>
            <a:ext cx="2590800" cy="14363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2424112"/>
            <a:ext cx="2590800" cy="14363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424112"/>
            <a:ext cx="2590800" cy="14363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424112"/>
            <a:ext cx="2590800" cy="14363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883122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To solve the problem, OpenAI deployed unprecedented parallel AI agent architecture: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6477000"/>
            <a:ext cx="1828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Computational Scale &amp; Resources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7000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3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412902"/>
            <a:ext cx="10420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1" u="none">
                <a:solidFill>
                  <a:srgbClr val="1E293B"/>
                </a:solidFill>
                <a:latin typeface="Inter"/>
              </a:rPr>
              <a:t>"The agents exchanged 2.7 million messages, brainstormed strategies, and wrote code until converging on a finite-time blowup proof."</a:t>
            </a:r>
            <a:endParaRPr sz="1650" b="0" i="1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155852"/>
            <a:ext cx="3381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— OpenAI Research Team (September 2026)</a:t>
            </a:r>
            <a:endParaRPr sz="120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2662237"/>
            <a:ext cx="211455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600" b="0" i="0" u="none">
                <a:solidFill>
                  <a:srgbClr val="4F46E5"/>
                </a:solidFill>
                <a:latin typeface="Plus Jakarta Sans ExtraBold"/>
              </a:rPr>
              <a:t>10,000</a:t>
            </a:r>
            <a:endParaRPr sz="3600" b="0" i="0" u="none">
              <a:solidFill>
                <a:srgbClr val="4F46E5"/>
              </a:solidFill>
              <a:latin typeface="Plus Jakarta Sans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625" y="3241327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SemiBold"/>
              </a:rPr>
              <a:t>CONCURRENT AI AGENTS</a:t>
            </a:r>
            <a:endParaRPr sz="1200" b="0" i="0" u="none">
              <a:solidFill>
                <a:srgbClr val="64748B"/>
              </a:solidFill>
              <a:latin typeface="Inter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29025" y="2662237"/>
            <a:ext cx="211455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600" b="0" i="0" u="none">
                <a:solidFill>
                  <a:srgbClr val="4F46E5"/>
                </a:solidFill>
                <a:latin typeface="Plus Jakarta Sans ExtraBold"/>
              </a:rPr>
              <a:t>88 hrs</a:t>
            </a:r>
            <a:endParaRPr sz="3600" b="0" i="0" u="none">
              <a:solidFill>
                <a:srgbClr val="4F46E5"/>
              </a:solidFill>
              <a:latin typeface="Plus Jakarta Sans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29025" y="3241327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SemiBold"/>
              </a:rPr>
              <a:t>TO REACH SOLUTION</a:t>
            </a:r>
            <a:endParaRPr sz="1200" b="0" i="0" u="none">
              <a:solidFill>
                <a:srgbClr val="64748B"/>
              </a:solidFill>
              <a:latin typeface="Inter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8425" y="2662237"/>
            <a:ext cx="211455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600" b="0" i="0" u="none">
                <a:solidFill>
                  <a:srgbClr val="4F46E5"/>
                </a:solidFill>
                <a:latin typeface="Plus Jakarta Sans ExtraBold"/>
              </a:rPr>
              <a:t>130B</a:t>
            </a:r>
            <a:endParaRPr sz="3600" b="0" i="0" u="none">
              <a:solidFill>
                <a:srgbClr val="4F46E5"/>
              </a:solidFill>
              <a:latin typeface="Plus Jakarta Sans Extra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8425" y="3241327"/>
            <a:ext cx="21145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SemiBold"/>
              </a:rPr>
              <a:t>OUTPUT TOKENS</a:t>
            </a:r>
            <a:endParaRPr sz="1200" b="0" i="0" u="none">
              <a:solidFill>
                <a:srgbClr val="64748B"/>
              </a:solidFill>
              <a:latin typeface="Inter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67825" y="2662237"/>
            <a:ext cx="211455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sz="3600" b="0" i="0" u="none">
                <a:solidFill>
                  <a:srgbClr val="4F46E5"/>
                </a:solidFill>
                <a:latin typeface="Plus Jakarta Sans ExtraBold"/>
              </a:rPr>
              <a:t>~$10M</a:t>
            </a:r>
            <a:endParaRPr sz="3600" b="0" i="0" u="none">
              <a:solidFill>
                <a:srgbClr val="4F46E5"/>
              </a:solidFill>
              <a:latin typeface="Plus Jakarta Sans Extra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67825" y="3241327"/>
            <a:ext cx="2114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 SemiBold"/>
              </a:rPr>
              <a:t>ESTIMATED COMPUTE COST</a:t>
            </a:r>
            <a:endParaRPr sz="1200" b="0" i="0" u="none">
              <a:solidFill>
                <a:srgbClr val="64748B"/>
              </a:solidFill>
              <a:latin typeface="Inter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Scale of the Computational Effort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807460"/>
            <a:ext cx="5334000" cy="23564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77504"/>
            <a:ext cx="5334000" cy="3160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77000"/>
            <a:ext cx="1314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Reflections on AI Search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77000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6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2177504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A Natural Reflection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2396579"/>
            <a:ext cx="5334000" cy="1661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If massive multi-agent AI systems can burn millions of dollars to search high-dimensional space and solve Navier-Stokes,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can we use brute force to tackle other unsolved mysteries like Goldbach's Conjecture?</a:t>
            </a:r>
            <a:endParaRPr sz="1350" b="1" i="0" u="none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2160"/>
              </a:lnSpc>
            </a:pPr>
            <a:endParaRPr sz="1350" b="1" i="0" u="none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2160"/>
              </a:lnSpc>
            </a:pPr>
            <a:endParaRPr sz="13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4091305"/>
            <a:ext cx="4800600" cy="1903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lang="en-US" altLang="zh-CN" sz="1200" b="1" i="0" u="none">
                <a:solidFill>
                  <a:srgbClr val="1E3A8A"/>
                </a:solidFill>
                <a:latin typeface="Inter"/>
              </a:rPr>
              <a:t>Every even integer greater than 2 can be expressed as the sum of two prime numbers.</a:t>
            </a:r>
            <a:endParaRPr lang="en-US" altLang="zh-CN" sz="1200" b="1" i="0" u="none">
              <a:solidFill>
                <a:srgbClr val="1E3A8A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altLang="zh-CN" sz="1200" b="1" i="0" u="none">
                <a:solidFill>
                  <a:srgbClr val="1E3A8A"/>
                </a:solidFill>
                <a:latin typeface="Inter"/>
              </a:rPr>
              <a:t>10 = 3 + 7 = 5 + 5</a:t>
            </a:r>
            <a:endParaRPr lang="en-US" altLang="zh-CN" sz="1200" b="1" i="0" u="none">
              <a:solidFill>
                <a:srgbClr val="1E3A8A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altLang="zh-CN" sz="1200" b="1" i="0" u="none">
                <a:solidFill>
                  <a:srgbClr val="1E3A8A"/>
                </a:solidFill>
                <a:latin typeface="Inter"/>
              </a:rPr>
              <a:t>100 = 3 + 97 = 11 + 89 = 17 + 83</a:t>
            </a:r>
            <a:endParaRPr lang="en-US" altLang="zh-CN" sz="1200" b="1" i="0" u="none">
              <a:solidFill>
                <a:srgbClr val="1E3A8A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endParaRPr lang="en-US" altLang="zh-CN" sz="1200" b="1" i="0" u="none">
              <a:solidFill>
                <a:srgbClr val="1E3A8A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1E3A8A"/>
                </a:solidFill>
                <a:latin typeface="Inter"/>
              </a:rPr>
              <a:t>Verification vs. Proof:</a:t>
            </a:r>
            <a:r>
              <a:rPr sz="1200" b="0" i="0" u="none">
                <a:solidFill>
                  <a:srgbClr val="1E3A8A"/>
                </a:solidFill>
                <a:latin typeface="Inter"/>
              </a:rPr>
              <a:t> Computers have checked numbers up to </a:t>
            </a:r>
            <a:r>
              <a:rPr sz="1200" b="1" i="0" u="none">
                <a:solidFill>
                  <a:srgbClr val="1E3A8A"/>
                </a:solidFill>
                <a:latin typeface="Inter"/>
              </a:rPr>
              <a:t>10</a:t>
            </a:r>
            <a:r>
              <a:rPr lang="en-US" sz="1200" b="1" i="0" u="none">
                <a:solidFill>
                  <a:srgbClr val="1E3A8A"/>
                </a:solidFill>
                <a:latin typeface="Inter"/>
              </a:rPr>
              <a:t>^</a:t>
            </a:r>
            <a:r>
              <a:rPr sz="1200" b="1" i="0" u="none">
                <a:solidFill>
                  <a:srgbClr val="1E3A8A"/>
                </a:solidFill>
                <a:latin typeface="Inter"/>
              </a:rPr>
              <a:t>18</a:t>
            </a:r>
            <a:r>
              <a:rPr sz="1200" b="0" i="0" u="none">
                <a:solidFill>
                  <a:srgbClr val="1E3A8A"/>
                </a:solidFill>
                <a:latin typeface="Inter"/>
              </a:rPr>
              <a:t> without finding a single exception. But in pure mathematics, empirical verification is never a proof.</a:t>
            </a:r>
            <a:endParaRPr sz="1200" b="0" i="0" u="none">
              <a:solidFill>
                <a:srgbClr val="1E3A8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2444204"/>
            <a:ext cx="5040630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The Infinite Dilemma</a:t>
            </a:r>
            <a:endParaRPr sz="1500" b="1" i="0" u="none">
              <a:solidFill>
                <a:srgbClr val="1E293B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482304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6100" y="2796629"/>
            <a:ext cx="445770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Checking 10</a:t>
            </a:r>
            <a:r>
              <a:rPr lang="en-US" sz="1350" b="0" i="0" u="none">
                <a:solidFill>
                  <a:srgbClr val="475569"/>
                </a:solidFill>
                <a:latin typeface="Inter"/>
              </a:rPr>
              <a:t>^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18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instances does not guarantee the 10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19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th case holds.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96100" y="3592859"/>
            <a:ext cx="4457700" cy="553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 single counterexample at 10</a:t>
            </a:r>
            <a:r>
              <a:rPr lang="en-US" sz="1350" b="0" i="0" u="none">
                <a:solidFill>
                  <a:srgbClr val="475569"/>
                </a:solidFill>
                <a:latin typeface="Inter"/>
              </a:rPr>
              <a:t>^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200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would shatter the conjecture completely.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6100" y="4350990"/>
            <a:ext cx="44577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Can brute-force AI agents find hidden counterexamples that human computation missed?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829966"/>
            <a:ext cx="23812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626197"/>
            <a:ext cx="23812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384327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Can AI Brute-Force Goldbach?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07593"/>
            <a:ext cx="5334000" cy="6104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77000"/>
            <a:ext cx="2009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Historical Precedents in Computation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77000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8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2649438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Euler's Conjecture (1769)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2868513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Leonhard Euler conjectured that at least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terms of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-th powers are required to sum to another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-th power (e.g., for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= 4, at least four 4th powers are needed).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3805683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This conjecture stood unchallenged for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over 200 years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!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0" y="2649438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Computer Counterexample (1986)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86500" y="2868513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Noam Elkies used computer search algorithms to discover a massive counterexample for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= 4, instantly disproving Euler: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86500" y="440858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This historical lesson shows that long-held mathematical beliefs can be completely overturned by high-power computational search.</a:t>
            </a:r>
            <a:endParaRPr sz="1125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3798093"/>
            <a:ext cx="4405758" cy="1913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Euler's Sum of Powers Precedent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24025"/>
            <a:ext cx="110490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54015"/>
            <a:ext cx="5334000" cy="19216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71700"/>
            <a:ext cx="53340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77000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Mathematicians' Joint Response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63275" y="647700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4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2487215"/>
            <a:ext cx="53340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25 Fields Medalists published a joint open letter condemning AI tech practices.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3820715"/>
            <a:ext cx="5040630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Central Warning</a:t>
            </a:r>
            <a:endParaRPr sz="1500" b="1" i="0" u="none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4173140"/>
            <a:ext cx="48006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sz="1275" b="0" i="0" u="none">
                <a:solidFill>
                  <a:srgbClr val="7F1D1D"/>
                </a:solidFill>
                <a:latin typeface="Inter"/>
              </a:rPr>
              <a:t>"AI corporations are treating deep mathematical problems as mere promotional benchmarks. This hype-driven approach is harmful to mathematical science and the global research community."</a:t>
            </a:r>
            <a:endParaRPr sz="1275" b="0" i="0" u="none">
              <a:solidFill>
                <a:srgbClr val="7F1D1D"/>
              </a:solidFill>
              <a:latin typeface="Inter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171700"/>
            <a:ext cx="5334000" cy="3619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858815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Open Letter: 25 Fields Medalists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6962"/>
            <a:ext cx="3530500" cy="27811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2366962"/>
            <a:ext cx="3530649" cy="27811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850" y="2366962"/>
            <a:ext cx="3530500" cy="27811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77000"/>
            <a:ext cx="1638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Ethics &amp; Community Concerns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477000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5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3157537"/>
            <a:ext cx="314695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Unconsented Training</a:t>
            </a:r>
            <a:endParaRPr sz="1500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3509962"/>
            <a:ext cx="29971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Protesting against using mathematicians' unpublished papers, drafts, and user sessions as AI training data without explicit consent.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7300" y="3157537"/>
            <a:ext cx="31471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Bypassing Peer Review</a:t>
            </a:r>
            <a:endParaRPr sz="1500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7300" y="3509962"/>
            <a:ext cx="299724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Opposing "science by press release" where unverified proofs are broadcast directly to mass media before rigorous community peer review.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56550" y="3157537"/>
            <a:ext cx="314695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Ignoring Prior Attribution</a:t>
            </a:r>
            <a:endParaRPr sz="1500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56550" y="3509962"/>
            <a:ext cx="29971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Failing to properly attribute human foundational work, concurrent human discoveries, or underlying prior mathematics relied upon by the AI.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662237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300" y="2662237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50" y="2662237"/>
            <a:ext cx="276225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Key Criticisms from Mathematicians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811017"/>
            <a:ext cx="1104900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8407"/>
            <a:ext cx="3530500" cy="25068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018407"/>
            <a:ext cx="3530649" cy="25068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50" y="2018407"/>
            <a:ext cx="3530500" cy="25068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477000"/>
            <a:ext cx="1152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Conclusion &amp; Outlook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5650" y="6477000"/>
            <a:ext cx="704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10 of 10</a:t>
            </a:r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5001517"/>
            <a:ext cx="10668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Thank You! </a:t>
            </a:r>
            <a:endParaRPr sz="15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2808982"/>
            <a:ext cx="314695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Ethical AI Rules</a:t>
            </a:r>
            <a:endParaRPr sz="1500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3161407"/>
            <a:ext cx="29971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AI developers must respect academic consent, cite human prior work, and adhere to peer-review norms rather than media hype.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7300" y="2808982"/>
            <a:ext cx="3147112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AI as </a:t>
            </a:r>
            <a:r>
              <a:rPr lang="en-US" sz="1500" b="1" i="0" u="none">
                <a:solidFill>
                  <a:srgbClr val="1E293B"/>
                </a:solidFill>
                <a:latin typeface="Plus Jakarta Sans"/>
              </a:rPr>
              <a:t>tool</a:t>
            </a:r>
            <a:endParaRPr lang="en-US" sz="1500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7300" y="3161407"/>
            <a:ext cx="299724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Combining AI's vast search power &amp; Lean formal verification with human conceptual intuition and problem framing.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6550" y="2808982"/>
            <a:ext cx="314695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Community Integrity</a:t>
            </a:r>
            <a:endParaRPr sz="1500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6550" y="3161407"/>
            <a:ext cx="29971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Mathematics thrives on shared understanding and trust—not black-box compute outputs without explanatory depth.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313682"/>
            <a:ext cx="3810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550" y="2313682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The Future of Proof &amp; Collaboration</a:t>
            </a:r>
            <a:endParaRPr sz="2700" b="0" i="0" u="none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4048</Words>
  <Application>WPS 演示</Application>
  <PresentationFormat>On-screen Show (4:3)</PresentationFormat>
  <Paragraphs>150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Arial</vt:lpstr>
      <vt:lpstr>Inter</vt:lpstr>
      <vt:lpstr>Thonburi</vt:lpstr>
      <vt:lpstr>Plus Jakarta Sans ExtraBold</vt:lpstr>
      <vt:lpstr>Inter SemiBold</vt:lpstr>
      <vt:lpstr>Plus Jakarta Sans</vt:lpstr>
      <vt:lpstr>微软雅黑</vt:lpstr>
      <vt:lpstr>方正雅意黑 GB18030L2</vt:lpstr>
      <vt:lpstr>宋体</vt:lpstr>
      <vt:lpstr>Arial Unicode MS</vt:lpstr>
      <vt:lpstr>Calibri</vt:lpstr>
      <vt:lpstr>Helvetica Neue</vt:lpstr>
      <vt:lpstr>汉仪书宋二KW</vt:lpstr>
      <vt:lpstr>Inter</vt:lpstr>
      <vt:lpstr>Inter SemiBold</vt:lpstr>
      <vt:lpstr>Plus Jakarta Sans</vt:lpstr>
      <vt:lpstr>Plus Jakarta Sans ExtraBold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清风若柠</cp:lastModifiedBy>
  <cp:revision>6</cp:revision>
  <dcterms:created xsi:type="dcterms:W3CDTF">2026-09-13T02:52:04Z</dcterms:created>
  <dcterms:modified xsi:type="dcterms:W3CDTF">2026-09-13T02:52:04Z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F41F2E2E237AD91F10B1A46AB980354E_42</vt:lpwstr>
  </property>
  <property fmtid="{D5CDD505-2E9C-101B-9397-08002B2CF9AE}" pid="3" name="KSOProductBuildVer">
    <vt:lpwstr>2052-12.1.26055.26055</vt:lpwstr>
  </property>
</Properties>
</file>